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开场自我介绍，说明本次汇报覆盖计算筛选全流程及 pivot 结论。强调：这不是「已找到 JNK1 选择性 hit」的庆功汇报，而是带否定性标定的完整漏斗复盘。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秒预告结构，让听众知道「失败记录」会单独成章，不是遗漏。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交代成药动机：JNK1 有疾病证据，但 pan-JNK 抑制可能带来系统毒性，因此最初项目目标是 JNK1 偏向化合物。引用 Bennett 2021、Plantevin-Krenitsky 2012。完整设计分析见报告 §1.2。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本页回答「为什么立项做 JNK1 选择性」。强调：生物学目标合理，但 Δsel/Gly87/ML 选择性经 benchmark 否定后 pivot 为 pan-JNK 结合剂筛选。详见报告 §1.2.1–§1.2.7。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这一页为后续「计算失败」铺垫：不是我们 pipeline 独有困难，而是领域共性难题。可举例：Park 2015 L144I 突变 &gt;20× 失活 vs E1 仅酶学 7× 且无共晶。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pivot 是数据驱动的，不是目标放弃。233、Tier 57 等数字保留在 §5 作失败探索记录，不参与采购链。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本页应停留 30 秒以上。用手势沿漏斗向下指。强调 157 的进门条件是 score_JNK1 ≤ −7.43 与 MMGBSA，不是 Δsel。可引用附录 A 流程图（若现场有打印版）。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回应审稿人 Q1：F1 是召回校准，不是特异性验证；特异性靠后续对接与排序。ML 三模型对 E1、TCS JNK 6O 的亚型方向预测错误（§2.6）。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再对接只证明网格能复现共晶 pose，不能外推跨 isoform 打分可比性。3NPC/8ELC 未纳入面板：DFG-out 与共价配体不与 Type I 可逆库混用。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秩相关「尚可」但方向准确率远低于 55% 阈值——文稿应强调否定结论。Spearman 置信区间宽（n=7），不宜过度解读正相关。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这页是反驳「为何不用 Δsel 筛 233 个」的核心证据。TCS JNK 6O 与 E1 方向相反，说明方法对 JNK1 偏好化合物也不稳健。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快速过表，每项 5 秒。强调：这些不是「没做」，而是「做了并否定」。对合作者说明：负面标定同样有价值，减少湿实验错误预期。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Gly87 策略在 MD 硬筛前被 benchmark 否定。与 §1.4 文献机制对照：铰链近邻差异不足以区分 isoform。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G1：相对更接近文献 chemotype（Tc~0.22）；G2：新骨架（Tc~0.12）。命名已从「骨架模仿」改为「文献 chemotype 邻近组」（Q11）。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 是 pose 可信度工具，不能代替活性或选择性实验。G2 全军覆没说明新骨架风险高，但 2231 仍有探索价值。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预判评委问：「Δsel 最强为何 pass_selectivity No 还采购？」答：探索标签与主线脱钩；2231 凭活性+pose 进 G2，采购为假说检验。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G3 无论 MD 是否通过都采购——酶学校准尺。4 个对照 + 6 个探索分子，同批次三 isoform IC50。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向合作者/资助方说明：预算买的是信息，不是阳性结论。即使 G2 全 fail，G3 对照也能回答「MD 能否预测活性」。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主动披露局限比被动答辩得分更高。所有「选择性先验」必须加「待 IC50 验证」限定语。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实验设计要点：同批次、同条件、三亚型平行，才能算选择性。若有 hit：kinome + p-c-Jun；690 可考虑 FEP+。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备用深答：Q4 Tier/pass_consistency 占位问题 → 已改用 Tier 1′ 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用附录 B 一句话版收尾前重复这 5 条。数字 4983→10 建议大字显示。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按优先级排列，P0 与湿实验同步。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现场有人问复现路径时指向这些文件。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3–5 分钟提问。常见题：为何不做 FEP、为何不用双 PDB ensemble、690 为何像 pan 还采购。均可在 §12 找到书面回复。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 4 页按需插入答辩，默认跳过。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 Q1：9/9 benchmark 循环验证质疑。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被问标定细节时展开。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回应「233 个选择性 hit 去哪了」。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领域背景深问时使用。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JNK1/2/3 亚型抑制剂计算筛选项目汇报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ML → Glide VSW → MD → 湿实验</a:t>
            </a:r>
          </a:p>
          <a:p>
            <a:pPr>
              <a:defRPr sz="2000"/>
            </a:pPr>
            <a:r>
              <a:t>报告版本 v3.0 |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项目背景与文献调研</a:t>
            </a:r>
          </a:p>
          <a:p>
            <a:pPr>
              <a:spcAft>
                <a:spcPts val="600"/>
              </a:spcAft>
              <a:defRPr sz="1800"/>
            </a:pPr>
            <a:r>
              <a:t>2. 端到端筛选漏斗（4983 → 10）</a:t>
            </a:r>
          </a:p>
          <a:p>
            <a:pPr>
              <a:spcAft>
                <a:spcPts val="600"/>
              </a:spcAft>
              <a:defRPr sz="1800"/>
            </a:pPr>
            <a:r>
              <a:t>3. ML 与 Glide 对接结果</a:t>
            </a:r>
          </a:p>
          <a:p>
            <a:pPr>
              <a:spcAft>
                <a:spcPts val="600"/>
              </a:spcAft>
              <a:defRPr sz="1800"/>
            </a:pPr>
            <a:r>
              <a:t>4. 选择性计算为何失败</a:t>
            </a:r>
          </a:p>
          <a:p>
            <a:pPr>
              <a:spcAft>
                <a:spcPts val="600"/>
              </a:spcAft>
              <a:defRPr sz="1800"/>
            </a:pPr>
            <a:r>
              <a:t>5. MD 结果与 10 分子采购逻辑</a:t>
            </a:r>
          </a:p>
          <a:p>
            <a:pPr>
              <a:spcAft>
                <a:spcPts val="600"/>
              </a:spcAft>
              <a:defRPr sz="1800"/>
            </a:pPr>
            <a:r>
              <a:t>6. 湿实验计划与答辩要点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生物学背景：为什么关注 JNK1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JNK 三亚型：JNK1 (MAPK8)、JNK2 (MAPK9)、JNK3 (MAPK10)</a:t>
            </a:r>
          </a:p>
          <a:p>
            <a:pPr>
              <a:spcAft>
                <a:spcPts val="600"/>
              </a:spcAft>
              <a:defRPr sz="1800"/>
            </a:pPr>
            <a:r>
              <a:t>JNK1 与 IPF、NASH 等疾病病理相关</a:t>
            </a:r>
          </a:p>
          <a:p>
            <a:pPr>
              <a:spcAft>
                <a:spcPts val="600"/>
              </a:spcAft>
              <a:defRPr sz="1800"/>
            </a:pPr>
            <a:r>
              <a:t>临床参考：CC-90001（JNK1 功能偏向）、CC-930（pan-JNK）</a:t>
            </a:r>
          </a:p>
          <a:p>
            <a:pPr>
              <a:spcAft>
                <a:spcPts val="600"/>
              </a:spcAft>
              <a:defRPr sz="1800"/>
            </a:pPr>
            <a:r>
              <a:t>工具药：SP600125（经典 pan-JNK 抑制剂）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设计分析：为何做 JNK1 选择性筛选（§1.2）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生物学：IPF/NASH + CC-90001 先例 → JNK1 而非 pan-JNK</a:t>
            </a:r>
          </a:p>
          <a:p>
            <a:pPr>
              <a:spcAft>
                <a:spcPts val="600"/>
              </a:spcAft>
              <a:defRPr sz="1800"/>
            </a:pPr>
            <a:r>
              <a:t>计算分层：ML 粗筛活性；对接/MD 检选择性假说；酶学终裁</a:t>
            </a:r>
          </a:p>
          <a:p>
            <a:pPr>
              <a:spcAft>
                <a:spcPts val="600"/>
              </a:spcAft>
              <a:defRPr sz="1800"/>
            </a:pPr>
            <a:r>
              <a:t>为何仍对接三亚型：计算 Δsel + 同批次 IC50 比较</a:t>
            </a:r>
          </a:p>
          <a:p>
            <a:pPr>
              <a:spcAft>
                <a:spcPts val="600"/>
              </a:spcAft>
              <a:defRPr sz="1800"/>
            </a:pPr>
            <a:r>
              <a:t>G1 贴近 E1/Q63 chemotype；G3 酶学校准</a:t>
            </a:r>
          </a:p>
          <a:p>
            <a:pPr>
              <a:spcAft>
                <a:spcPts val="600"/>
              </a:spcAft>
              <a:defRPr sz="1800"/>
            </a:pPr>
            <a:r>
              <a:t>已知风险：ChEMBL JNK1-selective 仅 8 个；结构难度高于 JNK2/3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文献背景：JNK 选择性有多难做（§1.4）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ATP 口袋序列同一性 ~98%，仅 1–2 个残基差异</a:t>
            </a:r>
          </a:p>
          <a:p>
            <a:pPr>
              <a:spcAft>
                <a:spcPts val="600"/>
              </a:spcAft>
              <a:defRPr sz="1800"/>
            </a:pPr>
            <a:r>
              <a:t>JNK2/3 &gt; JNK1：证据强（Leu106/Ile106 + 共晶 + 突变验证）</a:t>
            </a:r>
          </a:p>
          <a:p>
            <a:pPr>
              <a:spcAft>
                <a:spcPts val="600"/>
              </a:spcAft>
              <a:defRPr sz="1800"/>
            </a:pPr>
            <a:r>
              <a:t>JNK1 &gt; JNK2：证据弱（E1、CC-90001 多为 SBDD，缺共晶）</a:t>
            </a:r>
          </a:p>
          <a:p>
            <a:pPr>
              <a:spcAft>
                <a:spcPts val="600"/>
              </a:spcAft>
              <a:defRPr sz="1800"/>
            </a:pPr>
            <a:r>
              <a:t>启示：结构上 JNK2/3 选择性比 JNK1 更容易设计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项目目标与策略演进（Pivot）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初期：计算筛选 JNK1 选择性 hit → ML + Δsel 均否定</a:t>
            </a:r>
          </a:p>
          <a:p>
            <a:pPr>
              <a:spcAft>
                <a:spcPts val="600"/>
              </a:spcAft>
              <a:defRPr sz="1800"/>
            </a:pPr>
            <a:r>
              <a:t>中期：Δsel + MM-GBSA 分级 → 233 个遗留标签，不作采购依据</a:t>
            </a:r>
          </a:p>
          <a:p>
            <a:pPr>
              <a:spcAft>
                <a:spcPts val="600"/>
              </a:spcAft>
              <a:defRPr sz="1800"/>
            </a:pPr>
            <a:r>
              <a:t>后期：MD QC + 湿实验 → 定位为 pan-JNK 家族结合剂</a:t>
            </a:r>
          </a:p>
          <a:p>
            <a:pPr>
              <a:spcAft>
                <a:spcPts val="600"/>
              </a:spcAft>
              <a:defRPr sz="1800"/>
            </a:pPr>
            <a:r>
              <a:t>金句：花钱买的不是「已算出选择性 hit」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端到端筛选漏斗（核心）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4983 (ML F0) → 4979 (Glide VSW)</a:t>
            </a:r>
          </a:p>
          <a:p>
            <a:pPr>
              <a:spcAft>
                <a:spcPts val="600"/>
              </a:spcAft>
              <a:defRPr sz="1800"/>
            </a:pPr>
            <a:r>
              <a:t>→ 157 (pose QC + JNK1 活性) → 25 (ADMET)</a:t>
            </a:r>
          </a:p>
          <a:p>
            <a:pPr>
              <a:spcAft>
                <a:spcPts val="600"/>
              </a:spcAft>
              <a:defRPr sz="1800"/>
            </a:pPr>
            <a:r>
              <a:t>→ 16 (MD pose QC) → 10 (采购) → 湿实验 IC50</a:t>
            </a:r>
          </a:p>
          <a:p>
            <a:pPr>
              <a:spcAft>
                <a:spcPts val="600"/>
              </a:spcAft>
              <a:defRPr sz="1800"/>
            </a:pPr>
            <a:r>
              <a:t>主线不使用 Δsel、pass_selectivity、Tier</a:t>
            </a:r>
          </a:p>
          <a:p>
            <a:pPr>
              <a:spcAft>
                <a:spcPts val="600"/>
              </a:spcAft>
              <a:defRPr sz="1800"/>
            </a:pPr>
            <a:r>
              <a:t>选择性探索（233/57 等）旁路记录，见 §5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模型：活性可以，选择性不行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训练数据：JNK1/2/3 = 444 / 610 / 1147 化合物</a:t>
            </a:r>
          </a:p>
          <a:p>
            <a:pPr>
              <a:spcAft>
                <a:spcPts val="600"/>
              </a:spcAft>
              <a:defRPr sz="1800"/>
            </a:pPr>
            <a:r>
              <a:t>Holdout R²：0.70 / 0.57 / 0.77</a:t>
            </a:r>
          </a:p>
          <a:p>
            <a:pPr>
              <a:spcAft>
                <a:spcPts val="600"/>
              </a:spcAft>
              <a:defRPr sz="1800"/>
            </a:pPr>
            <a:r>
              <a:t>F1@6.0：9/9 benchmark 全部召回（活性校准）</a:t>
            </a:r>
          </a:p>
          <a:p>
            <a:pPr>
              <a:spcAft>
                <a:spcPts val="600"/>
              </a:spcAft>
              <a:defRPr sz="1800"/>
            </a:pPr>
            <a:r>
              <a:t>外部 decoy：FPR 95%，特异性 4.7% → 高召回粗筛</a:t>
            </a:r>
          </a:p>
          <a:p>
            <a:pPr>
              <a:spcAft>
                <a:spcPts val="600"/>
              </a:spcAft>
              <a:defRPr sz="1800"/>
            </a:pPr>
            <a:r>
              <a:t>ChEMBL JNK1-selective 仅 8 个；选择性分类器 F1 =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对接设置：受体可信，选择性不可信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VSW 受体：3ELJ (JNK1) / 3E7O (JNK2) / 3TTI (JNK3)，DFG-in</a:t>
            </a:r>
          </a:p>
          <a:p>
            <a:pPr>
              <a:spcAft>
                <a:spcPts val="600"/>
              </a:spcAft>
              <a:defRPr sz="1800"/>
            </a:pPr>
            <a:r>
              <a:t>5/5 共晶再对接 RMSD &lt; 2 Å（3E7O 最低 0.26 Å）</a:t>
            </a:r>
          </a:p>
          <a:p>
            <a:pPr>
              <a:spcAft>
                <a:spcPts val="600"/>
              </a:spcAft>
              <a:defRPr sz="1800"/>
            </a:pPr>
            <a:r>
              <a:t>活性门槛：score_JNK1 ≤ −7.43；MMGBSA_JNK1 ≤ −51.6</a:t>
            </a:r>
          </a:p>
          <a:p>
            <a:pPr>
              <a:spcAft>
                <a:spcPts val="600"/>
              </a:spcAft>
              <a:defRPr sz="1800"/>
            </a:pPr>
            <a:r>
              <a:t>再对接通过 ≠ 选择性预测有效（Q12）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Δsel 定义与 Benchmark 标定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Δsel_dock = score_JNK2/3 − score_JNK1</a:t>
            </a:r>
          </a:p>
          <a:p>
            <a:pPr>
              <a:spcAft>
                <a:spcPts val="600"/>
              </a:spcAft>
              <a:defRPr sz="1800"/>
            </a:pPr>
            <a:r>
              <a:t>Spearman(Δsel, −ΔpIC50_sel) = 0.75 / 0.79 (n=7)</a:t>
            </a:r>
          </a:p>
          <a:p>
            <a:pPr>
              <a:spcAft>
                <a:spcPts val="600"/>
              </a:spcAft>
              <a:defRPr sz="1800"/>
            </a:pPr>
            <a:r>
              <a:t>方向准确率：VSW 单 PDB 43% (3/7)，ensemble 29% (2/7)</a:t>
            </a:r>
          </a:p>
          <a:p>
            <a:pPr>
              <a:spcAft>
                <a:spcPts val="600"/>
              </a:spcAft>
              <a:defRPr sz="1800"/>
            </a:pPr>
            <a:r>
              <a:t>结论：Δsel 不能用于 isoform 分型或采购排序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四个关键对照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E1（JNK1 偏好）→ Δsel 预测 JNK1 ✓</a:t>
            </a:r>
          </a:p>
          <a:p>
            <a:pPr>
              <a:spcAft>
                <a:spcPts val="600"/>
              </a:spcAft>
              <a:defRPr sz="1800"/>
            </a:pPr>
            <a:r>
              <a:t>CC-930（JNK2/3 偏好）→ 预测 JNK23 ✓</a:t>
            </a:r>
          </a:p>
          <a:p>
            <a:pPr>
              <a:spcAft>
                <a:spcPts val="600"/>
              </a:spcAft>
              <a:defRPr sz="1800"/>
            </a:pPr>
            <a:r>
              <a:t>TCS JNK 6O（JNK1 偏好）→ 预测 JNK23 ✗</a:t>
            </a:r>
          </a:p>
          <a:p>
            <a:pPr>
              <a:spcAft>
                <a:spcPts val="600"/>
              </a:spcAft>
              <a:defRPr sz="1800"/>
            </a:pPr>
            <a:r>
              <a:t>SP600125（pan）→ 阴性对照</a:t>
            </a:r>
          </a:p>
          <a:p>
            <a:pPr>
              <a:spcAft>
                <a:spcPts val="600"/>
              </a:spcAft>
              <a:defRPr sz="1800"/>
            </a:pPr>
            <a:r>
              <a:t>连文献对照都仅 43% 准确率，不能对 4979 库做选择性硬筛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选择性策略失败一览（§5）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ML ΔpActivity 过滤 → 失败</a:t>
            </a:r>
          </a:p>
          <a:p>
            <a:pPr>
              <a:spcAft>
                <a:spcPts val="600"/>
              </a:spcAft>
              <a:defRPr sz="1800"/>
            </a:pPr>
            <a:r>
              <a:t>选择性二分类模型 → F1 = 0</a:t>
            </a:r>
          </a:p>
          <a:p>
            <a:pPr>
              <a:spcAft>
                <a:spcPts val="600"/>
              </a:spcAft>
              <a:defRPr sz="1800"/>
            </a:pPr>
            <a:r>
              <a:t>Glide Δsel 排序 → 方向准确率 43%</a:t>
            </a:r>
          </a:p>
          <a:p>
            <a:pPr>
              <a:spcAft>
                <a:spcPts val="600"/>
              </a:spcAft>
              <a:defRPr sz="1800"/>
            </a:pPr>
            <a:r>
              <a:t>Δsel + MM-GBSA ≥ 2 → 噪声中位数 8.1 kcal/mol，过宽</a:t>
            </a:r>
          </a:p>
          <a:p>
            <a:pPr>
              <a:spcAft>
                <a:spcPts val="600"/>
              </a:spcAft>
              <a:defRPr sz="1800"/>
            </a:pPr>
            <a:r>
              <a:t>Gly87 占据 → 5/5 benchmark 无法区分</a:t>
            </a:r>
          </a:p>
          <a:p>
            <a:pPr>
              <a:spcAft>
                <a:spcPts val="600"/>
              </a:spcAft>
              <a:defRPr sz="1800"/>
            </a:pPr>
            <a:r>
              <a:t>MD hinge HB → 仅验证 pose，非选择性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Gly87 案例：合理假说为何失败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假说：JNK1 特有 Gly87（JNK2 Ser87、JNK3 Met115）→ 位阻差异</a:t>
            </a:r>
          </a:p>
          <a:p>
            <a:pPr>
              <a:spcAft>
                <a:spcPts val="600"/>
              </a:spcAft>
              <a:defRPr sz="1800"/>
            </a:pPr>
            <a:r>
              <a:t>回顾：E1、TCS JNK 6O、CC-930 等距 Gly87 仅 0.59–1.18 Å</a:t>
            </a:r>
          </a:p>
          <a:p>
            <a:pPr>
              <a:spcAft>
                <a:spcPts val="600"/>
              </a:spcAft>
              <a:defRPr sz="1800"/>
            </a:pPr>
            <a:r>
              <a:t>Type I 抑制剂必然靠近铰链 → occ_JNK1 全为 True</a:t>
            </a:r>
          </a:p>
          <a:p>
            <a:pPr>
              <a:spcAft>
                <a:spcPts val="600"/>
              </a:spcAft>
              <a:defRPr sz="1800"/>
            </a:pPr>
            <a:r>
              <a:t>真正选择性更可能来自远 pocket（Leu144/Ile106）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 短名单漏斗（§6.1）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157 → 25：ADMET + G1–G4 化学策略分组</a:t>
            </a:r>
          </a:p>
          <a:p>
            <a:pPr>
              <a:spcAft>
                <a:spcPts val="600"/>
              </a:spcAft>
              <a:defRPr sz="1800"/>
            </a:pPr>
            <a:r>
              <a:t>25 → 16：组内配额（G1 4/9、G2 6/10、G3/G4 全取）</a:t>
            </a:r>
          </a:p>
          <a:p>
            <a:pPr>
              <a:spcAft>
                <a:spcPts val="600"/>
              </a:spcAft>
              <a:defRPr sz="1800"/>
            </a:pPr>
            <a:r>
              <a:t>与 pass_selectivity / Tier 无关</a:t>
            </a:r>
          </a:p>
          <a:p>
            <a:pPr>
              <a:spcAft>
                <a:spcPts val="600"/>
              </a:spcAft>
              <a:defRPr sz="1800"/>
            </a:pPr>
            <a:r>
              <a:t>MD QC：RMSD ≤ 3 Å + hinge HB ≥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 QC 结果（§6.2、§6.4）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G1：3/4 pass overall；G2：0/6 pass overall</a:t>
            </a:r>
          </a:p>
          <a:p>
            <a:pPr>
              <a:spcAft>
                <a:spcPts val="600"/>
              </a:spcAft>
              <a:defRPr sz="1800"/>
            </a:pPr>
            <a:r>
              <a:t>G3：SP600125、CC-930 有活性但 hinge 可 fail</a:t>
            </a:r>
          </a:p>
          <a:p>
            <a:pPr>
              <a:spcAft>
                <a:spcPts val="600"/>
              </a:spcAft>
              <a:defRPr sz="1800"/>
            </a:pPr>
            <a:r>
              <a:t>2231：JNK1 hinge 0.91，JNK2 0.00（相对排序 #1）</a:t>
            </a:r>
          </a:p>
          <a:p>
            <a:pPr>
              <a:spcAft>
                <a:spcPts val="600"/>
              </a:spcAft>
              <a:defRPr sz="1800"/>
            </a:pPr>
            <a:r>
              <a:t>2157：JNK1 hinge 0.85（#2）</a:t>
            </a:r>
          </a:p>
          <a:p>
            <a:pPr>
              <a:spcAft>
                <a:spcPts val="600"/>
              </a:spcAft>
              <a:defRPr sz="1800"/>
            </a:pPr>
            <a:r>
              <a:t>690：三 isoform hinge 均高 → 更像 pan-JNK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个案：2231 的决策路径（§6.3.1、§6.5）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pass_selectivity = No（探索性双门槛未过）</a:t>
            </a:r>
          </a:p>
          <a:p>
            <a:pPr>
              <a:spcAft>
                <a:spcPts val="600"/>
              </a:spcAft>
              <a:defRPr sz="1800"/>
            </a:pPr>
            <a:r>
              <a:t>仍进 MD：score_JNK1 + MMGBSA + pose QC（主线路径）</a:t>
            </a:r>
          </a:p>
          <a:p>
            <a:pPr>
              <a:spcAft>
                <a:spcPts val="600"/>
              </a:spcAft>
              <a:defRPr sz="1800"/>
            </a:pPr>
            <a:r>
              <a:t>200 ns Amber：JNK1 配体 RMSD 最低（0.57 Å）</a:t>
            </a:r>
          </a:p>
          <a:p>
            <a:pPr>
              <a:spcAft>
                <a:spcPts val="600"/>
              </a:spcAft>
              <a:defRPr sz="1800"/>
            </a:pPr>
            <a:r>
              <a:t>仍不能改写 G2 overall fail，不能确认 JNK1 选择性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分子采购清单（§7）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G3 对照 (4)：SP600125, CC-90001, CC-930, E1</a:t>
            </a:r>
          </a:p>
          <a:p>
            <a:pPr>
              <a:spcAft>
                <a:spcPts val="600"/>
              </a:spcAft>
              <a:defRPr sz="1800"/>
            </a:pPr>
            <a:r>
              <a:t>G1 主力 (3)：690, 2232, 2157</a:t>
            </a:r>
          </a:p>
          <a:p>
            <a:pPr>
              <a:spcAft>
                <a:spcPts val="600"/>
              </a:spcAft>
              <a:defRPr sz="1800"/>
            </a:pPr>
            <a:r>
              <a:t>G2 探索 (3)：2231, 1280, 4795</a:t>
            </a:r>
          </a:p>
          <a:p>
            <a:pPr>
              <a:spcAft>
                <a:spcPts val="600"/>
              </a:spcAft>
              <a:defRPr sz="1800"/>
            </a:pPr>
            <a:r>
              <a:t>完整表：data/purchase/purchase_after_md.csv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花钱的逻辑链（§7.2）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验证计算管线：G3 建立 IC50 vs MD 相关性</a:t>
            </a:r>
          </a:p>
          <a:p>
            <a:pPr>
              <a:spcAft>
                <a:spcPts val="600"/>
              </a:spcAft>
              <a:defRPr sz="1800"/>
            </a:pPr>
            <a:r>
              <a:t>2. 检验 chemotype 假说：G1 vs G2</a:t>
            </a:r>
          </a:p>
          <a:p>
            <a:pPr>
              <a:spcAft>
                <a:spcPts val="600"/>
              </a:spcAft>
              <a:defRPr sz="1800"/>
            </a:pPr>
            <a:r>
              <a:t>3. 最有信息量候选：690（Tier 1′ + MD 三 isoform pass）</a:t>
            </a:r>
          </a:p>
          <a:p>
            <a:pPr>
              <a:spcAft>
                <a:spcPts val="600"/>
              </a:spcAft>
              <a:defRPr sz="1800"/>
            </a:pPr>
            <a:r>
              <a:t>4. 探索性 backup：2231（G2 中 JNK1 MD 最好）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诚实评估：计算能说什么、不能说什么（§8）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能否计算确认 JNK1 选择性？→ 不能</a:t>
            </a:r>
          </a:p>
          <a:p>
            <a:pPr>
              <a:spcAft>
                <a:spcPts val="600"/>
              </a:spcAft>
              <a:defRPr sz="1800"/>
            </a:pPr>
            <a:r>
              <a:t>690 最强证据 → 更支持 pan-JNK 结合</a:t>
            </a:r>
          </a:p>
          <a:p>
            <a:pPr>
              <a:spcAft>
                <a:spcPts val="600"/>
              </a:spcAft>
              <a:defRPr sz="1800"/>
            </a:pPr>
            <a:r>
              <a:t>「233 个选择性通过」→ 仅探索标签，非 isoform 依据</a:t>
            </a:r>
          </a:p>
          <a:p>
            <a:pPr>
              <a:spcAft>
                <a:spcPts val="600"/>
              </a:spcAft>
              <a:defRPr sz="1800"/>
            </a:pPr>
            <a:r>
              <a:t>JNK1 偏好假说（待实验）：2231 &gt; 2157 &gt; 690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湿实验计划与保守预测（§9）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必做：同批次 JNK1 + JNK2 + JNK3 重组酶 IC50</a:t>
            </a:r>
          </a:p>
          <a:p>
            <a:pPr>
              <a:spcAft>
                <a:spcPts val="600"/>
              </a:spcAft>
              <a:defRPr sz="1800"/>
            </a:pPr>
            <a:r>
              <a:t>G3 有活性但 MD-fail：较可能</a:t>
            </a:r>
          </a:p>
          <a:p>
            <a:pPr>
              <a:spcAft>
                <a:spcPts val="600"/>
              </a:spcAft>
              <a:defRPr sz="1800"/>
            </a:pPr>
            <a:r>
              <a:t>G1 ≥1 个 IC50 &lt; 1 µM：中等可能</a:t>
            </a:r>
          </a:p>
          <a:p>
            <a:pPr>
              <a:spcAft>
                <a:spcPts val="600"/>
              </a:spcAft>
              <a:defRPr sz="1800"/>
            </a:pPr>
            <a:r>
              <a:t>≥10× JNK1 选择性：低可能</a:t>
            </a:r>
          </a:p>
          <a:p>
            <a:pPr>
              <a:spcAft>
                <a:spcPts val="600"/>
              </a:spcAft>
              <a:defRPr sz="1800"/>
            </a:pPr>
            <a:r>
              <a:t>G4 阴性锚点无活性：预期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方法学局限与答辩预判（§12 精华）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Q1 F1 高 FPR → 已补外部 decoy 验证</a:t>
            </a:r>
          </a:p>
          <a:p>
            <a:pPr>
              <a:spcAft>
                <a:spcPts val="600"/>
              </a:spcAft>
              <a:defRPr sz="1800"/>
            </a:pPr>
            <a:r>
              <a:t>Q2 Δsel 跨 PDB 偏差 → benchmark 否定，不用于采购</a:t>
            </a:r>
          </a:p>
          <a:p>
            <a:pPr>
              <a:spcAft>
                <a:spcPts val="600"/>
              </a:spcAft>
              <a:defRPr sz="1800"/>
            </a:pPr>
            <a:r>
              <a:t>Q7 hinge 偏严 → G3 强制采购，不以 hinge 代活性</a:t>
            </a:r>
          </a:p>
          <a:p>
            <a:pPr>
              <a:spcAft>
                <a:spcPts val="600"/>
              </a:spcAft>
              <a:defRPr sz="1800"/>
            </a:pPr>
            <a:r>
              <a:t>Q9 MM-GBSA ≥2 门槛 → 已标定废弃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ML 可靠做 JNK 家族活性粗筛，不能预测 isoform 方向</a:t>
            </a:r>
          </a:p>
          <a:p>
            <a:pPr>
              <a:spcAft>
                <a:spcPts val="600"/>
              </a:spcAft>
              <a:defRPr sz="1800"/>
            </a:pPr>
            <a:r>
              <a:t>Glide 受体可信；Δsel 方向准确率仅 43%</a:t>
            </a:r>
          </a:p>
          <a:p>
            <a:pPr>
              <a:spcAft>
                <a:spcPts val="600"/>
              </a:spcAft>
              <a:defRPr sz="1800"/>
            </a:pPr>
            <a:r>
              <a:t>Gly87、pass_selectivity、Tier 等均已否定</a:t>
            </a:r>
          </a:p>
          <a:p>
            <a:pPr>
              <a:spcAft>
                <a:spcPts val="600"/>
              </a:spcAft>
              <a:defRPr sz="1800"/>
            </a:pPr>
            <a:r>
              <a:t>主线漏斗 4983 → 10，不含选择性硬筛</a:t>
            </a:r>
          </a:p>
          <a:p>
            <a:pPr>
              <a:spcAft>
                <a:spcPts val="600"/>
              </a:spcAft>
              <a:defRPr sz="1800"/>
            </a:pPr>
            <a:r>
              <a:t>选择性只能由同批次 IC50 回答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P0：10 分子三 isoform IC50；统一 pan-JNK 术语</a:t>
            </a:r>
          </a:p>
          <a:p>
            <a:pPr>
              <a:spcAft>
                <a:spcPts val="600"/>
              </a:spcAft>
              <a:defRPr sz="1800"/>
            </a:pPr>
            <a:r>
              <a:t>P1：2231/690/E1 replica MD；bootstrap Spearman CI</a:t>
            </a:r>
          </a:p>
          <a:p>
            <a:pPr>
              <a:spcAft>
                <a:spcPts val="600"/>
              </a:spcAft>
              <a:defRPr sz="1800"/>
            </a:pPr>
            <a:r>
              <a:t>若有 hit：kinome、p-c-Jun、FEP+（690 已在推荐清单）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数据与代码索引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报告：docs/JNK1_PROJECT_REPORT.md (v2.9)</a:t>
            </a:r>
          </a:p>
          <a:p>
            <a:pPr>
              <a:spcAft>
                <a:spcPts val="600"/>
              </a:spcAft>
              <a:defRPr sz="1800"/>
            </a:pPr>
            <a:r>
              <a:t>Benchmark：data/benchmarks/literature_benchmarks.csv</a:t>
            </a:r>
          </a:p>
          <a:p>
            <a:pPr>
              <a:spcAft>
                <a:spcPts val="600"/>
              </a:spcAft>
              <a:defRPr sz="1800"/>
            </a:pPr>
            <a:r>
              <a:t>采购：data/purchase/purchase_after_md.csv</a:t>
            </a:r>
          </a:p>
          <a:p>
            <a:pPr>
              <a:spcAft>
                <a:spcPts val="600"/>
              </a:spcAft>
              <a:defRPr sz="1800"/>
            </a:pPr>
            <a:r>
              <a:t>工具：XGBoost, Glide XP, Prime MM-GBSA, Desmond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附录 B 一句话答辩版：</a:t>
            </a:r>
          </a:p>
          <a:p>
            <a:pPr>
              <a:spcAft>
                <a:spcPts val="600"/>
              </a:spcAft>
              <a:defRPr sz="1800"/>
            </a:pPr>
            <a:r>
              <a:t>4979 化合物 Glide VSW；isoform 方向准确率 43%；</a:t>
            </a:r>
          </a:p>
          <a:p>
            <a:pPr>
              <a:spcAft>
                <a:spcPts val="600"/>
              </a:spcAft>
              <a:defRPr sz="1800"/>
            </a:pPr>
            <a:r>
              <a:t>pivot 为 pan-JNK 家族结合剂；</a:t>
            </a:r>
          </a:p>
          <a:p>
            <a:pPr>
              <a:spcAft>
                <a:spcPts val="600"/>
              </a:spcAft>
              <a:defRPr sz="1800"/>
            </a:pPr>
            <a:r>
              <a:t>采购 10 个（含 4 文献对照）做同批次 IC50；</a:t>
            </a:r>
          </a:p>
          <a:p>
            <a:pPr>
              <a:spcAft>
                <a:spcPts val="600"/>
              </a:spcAft>
              <a:defRPr sz="1800"/>
            </a:pPr>
            <a:r>
              <a:t>选择性只能由实验回答。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备用幻灯片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【备用】ML 外部 Decoy 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Recall@6.0：99.3%</a:t>
            </a:r>
          </a:p>
          <a:p>
            <a:pPr>
              <a:spcAft>
                <a:spcPts val="600"/>
              </a:spcAft>
              <a:defRPr sz="1800"/>
            </a:pPr>
            <a:r>
              <a:t>Decoy FPR：95.3%；Specificity：4.7%</a:t>
            </a:r>
          </a:p>
          <a:p>
            <a:pPr>
              <a:spcAft>
                <a:spcPts val="600"/>
              </a:spcAft>
              <a:defRPr sz="1800"/>
            </a:pPr>
            <a:r>
              <a:t>ROC-AUC：0.876；EF1%：9.20</a:t>
            </a:r>
          </a:p>
          <a:p>
            <a:pPr>
              <a:spcAft>
                <a:spcPts val="600"/>
              </a:spcAft>
              <a:defRPr sz="1800"/>
            </a:pPr>
            <a:r>
              <a:t>结论：F1 是高召回粗筛，特异性由对接承担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【备用】9-Compound Benchmark 全表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SP600125 / CC-930 / E1 / TCS JNK 6O / JNK-IN-8</a:t>
            </a:r>
          </a:p>
          <a:p>
            <a:pPr>
              <a:spcAft>
                <a:spcPts val="600"/>
              </a:spcAft>
              <a:defRPr sz="1800"/>
            </a:pPr>
            <a:r>
              <a:t>CC-90001 / Q63 / AS602801 / CC-401</a:t>
            </a:r>
          </a:p>
          <a:p>
            <a:pPr>
              <a:spcAft>
                <a:spcPts val="600"/>
              </a:spcAft>
              <a:defRPr sz="1800"/>
            </a:pPr>
            <a:r>
              <a:t>酶学 IC50 见 literature_benchmarks.csv</a:t>
            </a:r>
          </a:p>
          <a:p>
            <a:pPr>
              <a:spcAft>
                <a:spcPts val="600"/>
              </a:spcAft>
              <a:defRPr sz="1800"/>
            </a:pPr>
            <a:r>
              <a:t>对接方向见 benchmark_deltas_51c1.csv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【备用】选择性探索遗留数字（§5.4）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pass_selectivity：233</a:t>
            </a:r>
          </a:p>
          <a:p>
            <a:pPr>
              <a:spcAft>
                <a:spcPts val="600"/>
              </a:spcAft>
              <a:defRPr sz="1800"/>
            </a:pPr>
            <a:r>
              <a:t>Tier 1′：57；Tier 2：92；Tier 3：1191</a:t>
            </a:r>
          </a:p>
          <a:p>
            <a:pPr>
              <a:spcAft>
                <a:spcPts val="600"/>
              </a:spcAft>
              <a:defRPr sz="1800"/>
            </a:pPr>
            <a:r>
              <a:t>均未用于 MD 短名单或采购排序</a:t>
            </a:r>
          </a:p>
          <a:p>
            <a:pPr>
              <a:spcAft>
                <a:spcPts val="600"/>
              </a:spcAft>
              <a:defRPr sz="1800"/>
            </a:pPr>
            <a:r>
              <a:t>保留作失败探索记录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【备用】§1.4 文献抑制剂证据分级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 级：氨基吡唑、YL5084、CC-930、JNK-IN-8</a:t>
            </a:r>
          </a:p>
          <a:p>
            <a:pPr>
              <a:spcAft>
                <a:spcPts val="600"/>
              </a:spcAft>
              <a:defRPr sz="1800"/>
            </a:pPr>
            <a:r>
              <a:t>B 级：E1、CC-90001、TCS JNK 6O</a:t>
            </a:r>
          </a:p>
          <a:p>
            <a:pPr>
              <a:spcAft>
                <a:spcPts val="600"/>
              </a:spcAft>
              <a:defRPr sz="1800"/>
            </a:pPr>
            <a:r>
              <a:t>C 级：SP600125（pan 对照）</a:t>
            </a:r>
          </a:p>
          <a:p>
            <a:pPr>
              <a:spcAft>
                <a:spcPts val="600"/>
              </a:spcAft>
              <a:defRPr sz="1800"/>
            </a:pPr>
            <a:r>
              <a:t>详见报告 §1.4 与 §11 参考文献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